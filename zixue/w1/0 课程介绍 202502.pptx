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7.xml" ContentType="application/vnd.openxmlformats-officedocument.presentationml.slide+xml"/>
  <Override PartName="/ppt/slides/slide29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单击以移动幻灯片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000" spc="-1" strike="noStrike">
                <a:latin typeface="Arial"/>
              </a:rPr>
              <a:t>点击编辑备注格式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DA48717-0876-46C9-B2AA-34D55ECF2D72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F96CF090-7136-439E-8A7F-72E822F55B1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09710655-2916-43C2-B5A8-CCC2ACEC229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74F7315B-70E9-4ACC-8056-DDA8B64A0F2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06834083-9AAB-4CF4-88DE-3ED119502F3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87512087-973E-41DD-8928-50171E256B2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5E3526FC-A777-48A7-B06A-661DCD0E557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7C6E5097-E598-4DD0-980D-1BAFBE1BFB9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5217BE60-FB34-4756-81E7-AE3544AF982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16C4C6D1-F968-4C5D-80A1-0F4422E9645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B98430DE-5978-4067-86D6-AF360A7961C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967E94AD-001A-4A3B-BDE2-33AAFF202ACD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D6DBF452-0491-4DB7-8C5C-ADA8397744B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8A03C172-3B9E-4864-A35C-785A057558E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A5C3C814-2E1E-4E89-BFB0-577E8147561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1880DCA9-2666-4486-B871-6F7BA90DB96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5520" cy="34225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6B39EAA4-7ED8-4CE7-A81C-A569E726C8D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2470759A-8D8C-478B-8608-A163713C693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B832583D-DEEA-4CC0-B485-267AFC81B7D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6960" cy="34239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767D686E-1ECF-42F2-A158-F7E758D9B19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6960" cy="34239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336B1DDB-ECB8-4A04-AAE3-BB9A7E95B8D2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A4AA0D00-44F8-496E-B243-579AB815070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200" cy="34272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440" y="4343040"/>
            <a:ext cx="5473440" cy="419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AF4FBEBF-63F6-4782-9203-E6E042146E6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CBFD7F89-59E7-4B05-829B-D796A8B9D912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88AC4C89-EC57-4A50-BD57-64190CF5498D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27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3884760" y="8684640"/>
            <a:ext cx="29538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buNone/>
            </a:pPr>
            <a:fld id="{0D0D4AA8-9B50-4F94-9B5E-FF13E016543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&lt;编号&gt;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146240" y="685800"/>
            <a:ext cx="4547880" cy="34113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68760" cy="40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34920" y="2349360"/>
            <a:ext cx="9069120" cy="274680"/>
            <a:chOff x="34920" y="2349360"/>
            <a:chExt cx="9069120" cy="274680"/>
          </a:xfrm>
        </p:grpSpPr>
        <p:pic>
          <p:nvPicPr>
            <p:cNvPr id="1" name="图片 2" descr=""/>
            <p:cNvPicPr/>
            <p:nvPr/>
          </p:nvPicPr>
          <p:blipFill>
            <a:blip r:embed="rId2"/>
            <a:stretch/>
          </p:blipFill>
          <p:spPr>
            <a:xfrm>
              <a:off x="34920" y="2349360"/>
              <a:ext cx="9069120" cy="27468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2" name="CustomShape 2"/>
            <p:cNvSpPr/>
            <p:nvPr/>
          </p:nvSpPr>
          <p:spPr>
            <a:xfrm>
              <a:off x="166680" y="248616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CustomShape 3"/>
          <p:cNvSpPr/>
          <p:nvPr/>
        </p:nvSpPr>
        <p:spPr>
          <a:xfrm>
            <a:off x="1739880" y="2708280"/>
            <a:ext cx="6551280" cy="297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" name="CustomShape 4"/>
          <p:cNvSpPr/>
          <p:nvPr/>
        </p:nvSpPr>
        <p:spPr>
          <a:xfrm>
            <a:off x="760320" y="2209680"/>
            <a:ext cx="7770600" cy="858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latin typeface="Arial"/>
              </a:rPr>
              <a:t>单击以编辑标题文本格式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点击以编辑提纲文本格式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latin typeface="Arial"/>
              </a:rPr>
              <a:t>第二提纲级别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第三提纲级别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latin typeface="Arial"/>
              </a:rPr>
              <a:t>第四提纲级别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第五提纲级别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第六提纲级别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第七提纲级别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762120" y="914400"/>
            <a:ext cx="5103360" cy="607680"/>
          </a:xfrm>
          <a:custGeom>
            <a:avLst/>
            <a:gdLst/>
            <a:ahLst/>
            <a:rect l="l" t="t" r="r" b="b"/>
            <a:pathLst>
              <a:path w="180833" h="21600">
                <a:moveTo>
                  <a:pt x="10800" y="0"/>
                </a:moveTo>
                <a:lnTo>
                  <a:pt x="0" y="10800"/>
                </a:lnTo>
                <a:lnTo>
                  <a:pt x="170033" y="21600"/>
                </a:lnTo>
                <a:lnTo>
                  <a:pt x="180833" y="108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CustomShape 2"/>
          <p:cNvSpPr/>
          <p:nvPr/>
        </p:nvSpPr>
        <p:spPr>
          <a:xfrm>
            <a:off x="0" y="0"/>
            <a:ext cx="325080" cy="685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c6d6e2"/>
              </a:gs>
              <a:gs pos="100000">
                <a:srgbClr val="333399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" name="Group 3"/>
          <p:cNvGrpSpPr/>
          <p:nvPr/>
        </p:nvGrpSpPr>
        <p:grpSpPr>
          <a:xfrm>
            <a:off x="539640" y="981000"/>
            <a:ext cx="8564400" cy="274680"/>
            <a:chOff x="539640" y="981000"/>
            <a:chExt cx="8564400" cy="274680"/>
          </a:xfrm>
        </p:grpSpPr>
        <p:pic>
          <p:nvPicPr>
            <p:cNvPr id="46" name="图片 6" descr=""/>
            <p:cNvPicPr/>
            <p:nvPr/>
          </p:nvPicPr>
          <p:blipFill>
            <a:blip r:embed="rId2"/>
            <a:stretch/>
          </p:blipFill>
          <p:spPr>
            <a:xfrm>
              <a:off x="539640" y="981000"/>
              <a:ext cx="8564400" cy="27468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47" name="CustomShape 4"/>
            <p:cNvSpPr/>
            <p:nvPr/>
          </p:nvSpPr>
          <p:spPr>
            <a:xfrm>
              <a:off x="663480" y="11174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单击以编辑标题文本格式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762120" y="914400"/>
            <a:ext cx="5103360" cy="607680"/>
          </a:xfrm>
          <a:custGeom>
            <a:avLst/>
            <a:gdLst/>
            <a:ahLst/>
            <a:rect l="l" t="t" r="r" b="b"/>
            <a:pathLst>
              <a:path w="180833" h="21600">
                <a:moveTo>
                  <a:pt x="10800" y="0"/>
                </a:moveTo>
                <a:lnTo>
                  <a:pt x="0" y="10800"/>
                </a:lnTo>
                <a:lnTo>
                  <a:pt x="170033" y="21600"/>
                </a:lnTo>
                <a:lnTo>
                  <a:pt x="180833" y="108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CustomShape 2"/>
          <p:cNvSpPr/>
          <p:nvPr/>
        </p:nvSpPr>
        <p:spPr>
          <a:xfrm>
            <a:off x="0" y="0"/>
            <a:ext cx="325080" cy="685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c6d6e2"/>
              </a:gs>
              <a:gs pos="100000">
                <a:srgbClr val="333399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8" name="Group 3"/>
          <p:cNvGrpSpPr/>
          <p:nvPr/>
        </p:nvGrpSpPr>
        <p:grpSpPr>
          <a:xfrm>
            <a:off x="539640" y="981000"/>
            <a:ext cx="8564400" cy="274680"/>
            <a:chOff x="539640" y="981000"/>
            <a:chExt cx="8564400" cy="274680"/>
          </a:xfrm>
        </p:grpSpPr>
        <p:pic>
          <p:nvPicPr>
            <p:cNvPr id="89" name="图片 6" descr=""/>
            <p:cNvPicPr/>
            <p:nvPr/>
          </p:nvPicPr>
          <p:blipFill>
            <a:blip r:embed="rId2"/>
            <a:stretch/>
          </p:blipFill>
          <p:spPr>
            <a:xfrm>
              <a:off x="539640" y="981000"/>
              <a:ext cx="8564400" cy="27468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90" name="CustomShape 4"/>
            <p:cNvSpPr/>
            <p:nvPr/>
          </p:nvSpPr>
          <p:spPr>
            <a:xfrm>
              <a:off x="663480" y="11174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单击以编辑标题文本格式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762120" y="914400"/>
            <a:ext cx="5103360" cy="607680"/>
          </a:xfrm>
          <a:custGeom>
            <a:avLst/>
            <a:gdLst/>
            <a:ahLst/>
            <a:rect l="l" t="t" r="r" b="b"/>
            <a:pathLst>
              <a:path w="180833" h="21600">
                <a:moveTo>
                  <a:pt x="10800" y="0"/>
                </a:moveTo>
                <a:lnTo>
                  <a:pt x="0" y="10800"/>
                </a:lnTo>
                <a:lnTo>
                  <a:pt x="170033" y="21600"/>
                </a:lnTo>
                <a:lnTo>
                  <a:pt x="180833" y="108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CustomShape 2"/>
          <p:cNvSpPr/>
          <p:nvPr/>
        </p:nvSpPr>
        <p:spPr>
          <a:xfrm>
            <a:off x="0" y="0"/>
            <a:ext cx="325080" cy="685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c6d6e2"/>
              </a:gs>
              <a:gs pos="100000">
                <a:srgbClr val="333399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1" name="Group 3"/>
          <p:cNvGrpSpPr/>
          <p:nvPr/>
        </p:nvGrpSpPr>
        <p:grpSpPr>
          <a:xfrm>
            <a:off x="539640" y="981000"/>
            <a:ext cx="8564400" cy="274680"/>
            <a:chOff x="539640" y="981000"/>
            <a:chExt cx="8564400" cy="274680"/>
          </a:xfrm>
        </p:grpSpPr>
        <p:pic>
          <p:nvPicPr>
            <p:cNvPr id="132" name="图片 8" descr=""/>
            <p:cNvPicPr/>
            <p:nvPr/>
          </p:nvPicPr>
          <p:blipFill>
            <a:blip r:embed="rId2"/>
            <a:stretch/>
          </p:blipFill>
          <p:spPr>
            <a:xfrm>
              <a:off x="539640" y="981000"/>
              <a:ext cx="8564400" cy="27468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133" name="CustomShape 4"/>
            <p:cNvSpPr/>
            <p:nvPr/>
          </p:nvSpPr>
          <p:spPr>
            <a:xfrm>
              <a:off x="663480" y="1117440"/>
              <a:ext cx="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单击以编辑标题文本格式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forum.ubuntu.org.cn/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539640" y="1412640"/>
            <a:ext cx="8062920" cy="8938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Times New Roman"/>
                <a:ea typeface="华文中宋"/>
              </a:rPr>
              <a:t>Linux</a:t>
            </a:r>
            <a:r>
              <a:rPr b="1" lang="zh-CN" sz="4000" spc="-1" strike="noStrike">
                <a:solidFill>
                  <a:srgbClr val="000000"/>
                </a:solidFill>
                <a:latin typeface="Times New Roman"/>
                <a:ea typeface="华文中宋"/>
              </a:rPr>
              <a:t>系统与（应用）分析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79" name="图片 2" descr=""/>
          <p:cNvPicPr/>
          <p:nvPr/>
        </p:nvPicPr>
        <p:blipFill>
          <a:blip r:embed="rId1"/>
          <a:stretch/>
        </p:blipFill>
        <p:spPr>
          <a:xfrm>
            <a:off x="2340000" y="5300640"/>
            <a:ext cx="1312560" cy="1284120"/>
          </a:xfrm>
          <a:prstGeom prst="rect">
            <a:avLst/>
          </a:prstGeom>
          <a:ln w="12600">
            <a:noFill/>
          </a:ln>
        </p:spPr>
      </p:pic>
      <p:pic>
        <p:nvPicPr>
          <p:cNvPr id="180" name="图片 3" descr=""/>
          <p:cNvPicPr/>
          <p:nvPr/>
        </p:nvPicPr>
        <p:blipFill>
          <a:blip r:embed="rId2"/>
          <a:stretch/>
        </p:blipFill>
        <p:spPr>
          <a:xfrm>
            <a:off x="539640" y="2637000"/>
            <a:ext cx="2244600" cy="2661840"/>
          </a:xfrm>
          <a:prstGeom prst="rect">
            <a:avLst/>
          </a:prstGeom>
          <a:ln w="12600">
            <a:noFill/>
          </a:ln>
        </p:spPr>
      </p:pic>
      <p:sp>
        <p:nvSpPr>
          <p:cNvPr id="181" name="CustomShape 2"/>
          <p:cNvSpPr/>
          <p:nvPr/>
        </p:nvSpPr>
        <p:spPr>
          <a:xfrm>
            <a:off x="2484360" y="2637000"/>
            <a:ext cx="573120" cy="21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3"/>
          <p:cNvSpPr/>
          <p:nvPr/>
        </p:nvSpPr>
        <p:spPr>
          <a:xfrm>
            <a:off x="3564000" y="5229360"/>
            <a:ext cx="285480" cy="21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4"/>
          <p:cNvSpPr/>
          <p:nvPr/>
        </p:nvSpPr>
        <p:spPr>
          <a:xfrm>
            <a:off x="3635280" y="5591160"/>
            <a:ext cx="69840" cy="141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5"/>
          <p:cNvSpPr/>
          <p:nvPr/>
        </p:nvSpPr>
        <p:spPr>
          <a:xfrm>
            <a:off x="3635280" y="5445000"/>
            <a:ext cx="69840" cy="141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ustomShape 6"/>
          <p:cNvSpPr/>
          <p:nvPr/>
        </p:nvSpPr>
        <p:spPr>
          <a:xfrm>
            <a:off x="1981080" y="2709360"/>
            <a:ext cx="6622920" cy="1773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343080" indent="-33912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 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徐婕</a:t>
            </a:r>
            <a:endParaRPr b="0" lang="en-US" sz="3200" spc="-1" strike="noStrike">
              <a:latin typeface="Arial"/>
            </a:endParaRPr>
          </a:p>
          <a:p>
            <a:pPr marL="343080" indent="-33912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QQ: 65606437         </a:t>
            </a:r>
            <a:endParaRPr b="0" lang="en-US" sz="3200" spc="-1" strike="noStrike">
              <a:latin typeface="Arial"/>
            </a:endParaRPr>
          </a:p>
          <a:p>
            <a:pPr marL="343080" indent="-339120"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Spring  2025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C8955F72-C6AD-4BBE-B834-82413CC5EFDB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&lt;编号&gt;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188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关于《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系统与分析》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9" name="CustomShape 4"/>
          <p:cNvSpPr/>
          <p:nvPr/>
        </p:nvSpPr>
        <p:spPr>
          <a:xfrm>
            <a:off x="755280" y="1557360"/>
            <a:ext cx="7999200" cy="4894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为什么要开这门课？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这门课学什么？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如何学好这门课？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457200" y="273600"/>
            <a:ext cx="82274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2"/>
          <p:cNvSpPr/>
          <p:nvPr/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图片 3" descr=""/>
          <p:cNvPicPr/>
          <p:nvPr/>
        </p:nvPicPr>
        <p:blipFill>
          <a:blip r:embed="rId1"/>
          <a:stretch/>
        </p:blipFill>
        <p:spPr>
          <a:xfrm>
            <a:off x="134640" y="273600"/>
            <a:ext cx="8855280" cy="612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128D8458-49D6-497B-A470-B0C081AB5353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目标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6" name="CustomShape 4"/>
          <p:cNvSpPr/>
          <p:nvPr/>
        </p:nvSpPr>
        <p:spPr>
          <a:xfrm>
            <a:off x="755280" y="1341360"/>
            <a:ext cx="7999200" cy="5371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6000"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Ubuntu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的安装使用（命令， 服务器的配置安装）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基于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的应用编程（进程间的通信，网络编程 ，图形编程 ）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编译内核 中断和系统调用 内核模块 设备驱动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掌握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操作系统基本概念，进一步加深对操作系统原理的理解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掌握一种典型的操作系统——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的内核构造及其主要功能模块，从</a:t>
            </a:r>
            <a:r>
              <a:rPr b="0" lang="zh-CN" sz="2800" spc="-1" strike="noStrike">
                <a:solidFill>
                  <a:srgbClr val="800080"/>
                </a:solidFill>
                <a:latin typeface="Times New Roman"/>
                <a:ea typeface="DejaVu Sans"/>
              </a:rPr>
              <a:t>代码角度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理解操作系统原理相关的关键算法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0C7DF461-92BD-4208-976E-2AEBCBD669AF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4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Text &amp; Reference book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755280" y="1341360"/>
            <a:ext cx="7999200" cy="4026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 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操作系统实验教程 费翔林</a:t>
            </a:r>
            <a:endParaRPr b="0" lang="en-US" sz="24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Understanding the Linux Kernel (O‘reilly) 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（中文版：</a:t>
            </a:r>
            <a:r>
              <a:rPr b="1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深入理解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1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4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Ubuntu </a:t>
            </a:r>
            <a:r>
              <a:rPr b="1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从入门到精通 </a:t>
            </a:r>
            <a:endParaRPr b="0" lang="en-US" sz="24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1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内核源代码情景分析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，上下册，毛德操、胡希明，浙江大学出版社</a:t>
            </a:r>
            <a:endParaRPr b="0" lang="en-US" sz="24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鸟哥的私房菜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就该这么学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 u="sng">
                <a:solidFill>
                  <a:srgbClr val="0000ff"/>
                </a:solidFill>
                <a:uFillTx/>
                <a:latin typeface="Times New Roman"/>
                <a:ea typeface="DejaVu Sans"/>
                <a:hlinkClick r:id="rId1"/>
              </a:rPr>
              <a:t>http://forum.ubuntu.org.cn/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各种网站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C38F2B09-2AD6-4881-BB1D-4A2F8DEC50E8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5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课程内容进度安排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4" name="CustomShape 4"/>
          <p:cNvSpPr/>
          <p:nvPr/>
        </p:nvSpPr>
        <p:spPr>
          <a:xfrm>
            <a:off x="755280" y="1341360"/>
            <a:ext cx="7999200" cy="5088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0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课程简介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1 Linux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的安装和编译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2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进程与线程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3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进程间通信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800000"/>
                </a:solidFill>
                <a:latin typeface="宋体"/>
                <a:ea typeface="宋体"/>
              </a:rPr>
              <a:t>Shell</a:t>
            </a:r>
            <a:r>
              <a:rPr b="1" lang="zh-CN" sz="2200" spc="-1" strike="noStrike">
                <a:solidFill>
                  <a:srgbClr val="800000"/>
                </a:solidFill>
                <a:latin typeface="宋体"/>
                <a:ea typeface="宋体"/>
              </a:rPr>
              <a:t>程序设计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4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网络通信编程</a:t>
            </a:r>
            <a:endParaRPr b="0" lang="en-US" sz="2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1" lang="zh-CN" sz="2200" spc="-1" strike="noStrike">
                <a:solidFill>
                  <a:srgbClr val="99284c"/>
                </a:solidFill>
                <a:latin typeface="宋体"/>
                <a:ea typeface="宋体"/>
              </a:rPr>
              <a:t>事件驱动编程</a:t>
            </a:r>
            <a:r>
              <a:rPr b="1" lang="en-US" sz="2200" spc="-1" strike="noStrike">
                <a:solidFill>
                  <a:srgbClr val="99284c"/>
                </a:solidFill>
                <a:latin typeface="宋体"/>
                <a:ea typeface="宋体"/>
              </a:rPr>
              <a:t>(QT)</a:t>
            </a:r>
            <a:endParaRPr b="0" lang="en-US" sz="22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1" lang="zh-CN" sz="2200" spc="-1" strike="noStrike">
                <a:solidFill>
                  <a:srgbClr val="99284c"/>
                </a:solidFill>
                <a:latin typeface="宋体"/>
                <a:ea typeface="宋体"/>
              </a:rPr>
              <a:t>（</a:t>
            </a:r>
            <a:r>
              <a:rPr b="1" lang="en-US" sz="2200" spc="-1" strike="noStrike">
                <a:solidFill>
                  <a:srgbClr val="99284c"/>
                </a:solidFill>
                <a:latin typeface="宋体"/>
                <a:ea typeface="宋体"/>
              </a:rPr>
              <a:t>Eclipse(CDT)+glade3+GTk</a:t>
            </a:r>
            <a:endParaRPr b="0" lang="en-US" sz="22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99284c"/>
                </a:solidFill>
                <a:latin typeface="宋体"/>
                <a:ea typeface="宋体"/>
              </a:rPr>
              <a:t>     </a:t>
            </a:r>
            <a:r>
              <a:rPr b="1" lang="en-US" sz="2200" spc="-1" strike="noStrike">
                <a:solidFill>
                  <a:srgbClr val="99284c"/>
                </a:solidFill>
                <a:latin typeface="宋体"/>
                <a:ea typeface="宋体"/>
              </a:rPr>
              <a:t>Python +glade+ GTK</a:t>
            </a:r>
            <a:r>
              <a:rPr b="1" lang="zh-CN" sz="2200" spc="-1" strike="noStrike">
                <a:solidFill>
                  <a:srgbClr val="99284c"/>
                </a:solidFill>
                <a:latin typeface="宋体"/>
                <a:ea typeface="宋体"/>
              </a:rPr>
              <a:t>）</a:t>
            </a:r>
            <a:endParaRPr b="0" lang="en-US" sz="2200" spc="-1" strike="noStrike">
              <a:latin typeface="Arial"/>
            </a:endParaRPr>
          </a:p>
          <a:p>
            <a:pPr marL="32688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5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内核模块</a:t>
            </a:r>
            <a:endParaRPr b="0" lang="en-US" sz="2200" spc="-1" strike="noStrike">
              <a:latin typeface="Arial"/>
            </a:endParaRPr>
          </a:p>
          <a:p>
            <a:pPr marL="32688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6 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中断与系统调用</a:t>
            </a:r>
            <a:endParaRPr b="0" lang="en-US" sz="2200" spc="-1" strike="noStrike">
              <a:latin typeface="Arial"/>
            </a:endParaRPr>
          </a:p>
          <a:p>
            <a:pPr marL="32688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ff"/>
                </a:solidFill>
                <a:latin typeface="宋体"/>
                <a:ea typeface="宋体"/>
              </a:rPr>
              <a:t>7</a:t>
            </a:r>
            <a:r>
              <a:rPr b="1" lang="zh-CN" sz="2200" spc="-1" strike="noStrike">
                <a:solidFill>
                  <a:srgbClr val="0000ff"/>
                </a:solidFill>
                <a:latin typeface="宋体"/>
                <a:ea typeface="宋体"/>
              </a:rPr>
              <a:t>设备驱动程序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67A619DA-8C5D-42EB-B231-1325150D1D4A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6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课时安排 作业 考试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8" name="CustomShape 4"/>
          <p:cNvSpPr/>
          <p:nvPr/>
        </p:nvSpPr>
        <p:spPr>
          <a:xfrm>
            <a:off x="755280" y="1341360"/>
            <a:ext cx="7999200" cy="4894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32+16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考试：实验演示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+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实验报告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4784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8D753610-55AF-4416-A19D-3C3FFCFB1D61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7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课程反馈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2" name="CustomShape 4"/>
          <p:cNvSpPr/>
          <p:nvPr/>
        </p:nvSpPr>
        <p:spPr>
          <a:xfrm>
            <a:off x="755280" y="1341360"/>
            <a:ext cx="7999200" cy="4894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请各位同学及时将课程相关的反馈信息通过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email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QQ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反馈给我  视情况进行处理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2688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  <a:tabLst>
                <a:tab algn="l" pos="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对于中肯、有价值的反馈信息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5B7549AB-9361-46EC-9DBE-3F9D7ACC106C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8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15" name="CustomShape 3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各项评定比例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6" name="CustomShape 4"/>
          <p:cNvSpPr/>
          <p:nvPr/>
        </p:nvSpPr>
        <p:spPr>
          <a:xfrm>
            <a:off x="755280" y="1341360"/>
            <a:ext cx="7999200" cy="4894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总分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100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分</a:t>
            </a:r>
            <a:endParaRPr b="0" lang="en-US" sz="2800" spc="-1" strike="noStrike">
              <a:latin typeface="Arial"/>
            </a:endParaRPr>
          </a:p>
          <a:p>
            <a:pPr lvl="1" marL="4572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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出勤和表现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20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%</a:t>
            </a:r>
            <a:endParaRPr b="0" lang="en-US" sz="2800" spc="-1" strike="noStrike">
              <a:latin typeface="Arial"/>
            </a:endParaRPr>
          </a:p>
          <a:p>
            <a:pPr lvl="1" marL="4572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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实验报告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	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40%</a:t>
            </a:r>
            <a:endParaRPr b="0" lang="en-US" sz="2800" spc="-1" strike="noStrike">
              <a:latin typeface="Arial"/>
            </a:endParaRPr>
          </a:p>
          <a:p>
            <a:pPr lvl="1" marL="457200" indent="-2156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Wingdings" charset="2"/>
              <a:buChar char=""/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上机检查        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宋体"/>
              </a:rPr>
              <a:t>40%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EF910E39-46CA-47BF-A74D-7ED5E6547C3D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9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19" name="CustomShape 3"/>
          <p:cNvSpPr/>
          <p:nvPr/>
        </p:nvSpPr>
        <p:spPr>
          <a:xfrm>
            <a:off x="755280" y="1341360"/>
            <a:ext cx="7999200" cy="4894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>
            <a:normAutofit/>
          </a:bodyPr>
          <a:p>
            <a:pPr marL="343080" indent="-339120" algn="ctr">
              <a:lnSpc>
                <a:spcPct val="100000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6000" spc="-1" strike="noStrike">
              <a:latin typeface="Arial"/>
            </a:endParaRPr>
          </a:p>
          <a:p>
            <a:pPr marL="343080" indent="-339120" algn="ctr">
              <a:lnSpc>
                <a:spcPct val="100000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“</a:t>
            </a:r>
            <a:r>
              <a:rPr b="0" lang="zh-CN" sz="6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宝剑锋从磨砺出，</a:t>
            </a:r>
            <a:br>
              <a:rPr sz="1800"/>
            </a:br>
            <a:r>
              <a:rPr b="0" lang="zh-CN" sz="6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梅花香自苦寒来”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5306CFE8-8399-4C58-8CD0-517CC9EC7CF7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10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22" name="CustomShape 3"/>
          <p:cNvSpPr/>
          <p:nvPr/>
        </p:nvSpPr>
        <p:spPr>
          <a:xfrm>
            <a:off x="755640" y="259920"/>
            <a:ext cx="8135640" cy="651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GNU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GPL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3" name="CustomShape 4"/>
          <p:cNvSpPr/>
          <p:nvPr/>
        </p:nvSpPr>
        <p:spPr>
          <a:xfrm>
            <a:off x="755280" y="1341000"/>
            <a:ext cx="7999200" cy="5743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GNU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是一个自由软件工程项目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GPL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General Public License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，通用公共许可协议）是一种版权形式，是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Richard Stallman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在开放源代码软件发行的实践中，逐渐总结出的一套保护自由软件的条款，称之为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GPL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。</a:t>
            </a:r>
            <a:endParaRPr b="0" lang="en-US" sz="28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GPL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授予程序接受人以下权利，或称“自由”：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*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以任何目的运行此程序的自由；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*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再发行复制件的自由；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*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改进此程序，并公开发布改进的自由（前提是能得到源代码）。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LGPL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Ubuntu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安装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分区：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swap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/home    /boot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 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文件系统类型：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ext4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windows NTFS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65AE94CC-5333-49C9-8EA4-3DA4584D6F81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12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28" name="CustomShape 3"/>
          <p:cNvSpPr/>
          <p:nvPr/>
        </p:nvSpPr>
        <p:spPr>
          <a:xfrm>
            <a:off x="999000" y="1224000"/>
            <a:ext cx="7351200" cy="41349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 install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：分区 （引导区的设置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94"/>
              </a:spcBef>
              <a:buNone/>
            </a:pPr>
            <a:endParaRPr b="0" lang="en-US" sz="24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 network:  sudo pppoeconf</a:t>
            </a:r>
            <a:endParaRPr b="0" lang="en-US" sz="2400" spc="-1" strike="noStrike">
              <a:latin typeface="Arial"/>
            </a:endParaRPr>
          </a:p>
          <a:p>
            <a:pPr marL="33984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校园网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mentohust</a:t>
            </a:r>
            <a:endParaRPr b="0" lang="en-US" sz="2400" spc="-1" strike="noStrike">
              <a:latin typeface="Arial"/>
            </a:endParaRPr>
          </a:p>
          <a:p>
            <a:pPr marL="33984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           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ifconfig</a:t>
            </a:r>
            <a:endParaRPr b="0" lang="en-US" sz="2400" spc="-1" strike="noStrike">
              <a:latin typeface="Arial"/>
            </a:endParaRPr>
          </a:p>
          <a:p>
            <a:pPr marL="33984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33984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3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安装软件  软件中心 或者新立得（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synaptic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400" spc="-1" strike="noStrike">
              <a:latin typeface="Arial"/>
            </a:endParaRPr>
          </a:p>
          <a:p>
            <a:pPr marL="33984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synaptic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43C60FD9-3B9F-41E5-8520-FD2ED731B9CE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13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认证失败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passwd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E8E15215-94BC-4D4F-9417-1F098923196B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14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755640" y="261360"/>
            <a:ext cx="8135640" cy="6476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几种流行的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发行版本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35" name="图片 2" descr=""/>
          <p:cNvPicPr/>
          <p:nvPr/>
        </p:nvPicPr>
        <p:blipFill>
          <a:blip r:embed="rId1"/>
          <a:stretch/>
        </p:blipFill>
        <p:spPr>
          <a:xfrm>
            <a:off x="2873520" y="1260360"/>
            <a:ext cx="1625400" cy="1797120"/>
          </a:xfrm>
          <a:prstGeom prst="rect">
            <a:avLst/>
          </a:prstGeom>
          <a:ln w="12600">
            <a:noFill/>
          </a:ln>
        </p:spPr>
      </p:pic>
      <p:pic>
        <p:nvPicPr>
          <p:cNvPr id="236" name="图片 3" descr=""/>
          <p:cNvPicPr/>
          <p:nvPr/>
        </p:nvPicPr>
        <p:blipFill>
          <a:blip r:embed="rId2"/>
          <a:stretch/>
        </p:blipFill>
        <p:spPr>
          <a:xfrm>
            <a:off x="3348000" y="4005360"/>
            <a:ext cx="2539800" cy="1798200"/>
          </a:xfrm>
          <a:prstGeom prst="rect">
            <a:avLst/>
          </a:prstGeom>
          <a:ln w="12600">
            <a:noFill/>
          </a:ln>
        </p:spPr>
      </p:pic>
      <p:pic>
        <p:nvPicPr>
          <p:cNvPr id="237" name="图片 4" descr=""/>
          <p:cNvPicPr/>
          <p:nvPr/>
        </p:nvPicPr>
        <p:blipFill>
          <a:blip r:embed="rId3"/>
          <a:stretch/>
        </p:blipFill>
        <p:spPr>
          <a:xfrm>
            <a:off x="755640" y="4005360"/>
            <a:ext cx="1836360" cy="1798200"/>
          </a:xfrm>
          <a:prstGeom prst="rect">
            <a:avLst/>
          </a:prstGeom>
          <a:ln w="12600">
            <a:noFill/>
          </a:ln>
        </p:spPr>
      </p:pic>
      <p:pic>
        <p:nvPicPr>
          <p:cNvPr id="238" name="图片 5" descr=""/>
          <p:cNvPicPr/>
          <p:nvPr/>
        </p:nvPicPr>
        <p:blipFill>
          <a:blip r:embed="rId4"/>
          <a:stretch/>
        </p:blipFill>
        <p:spPr>
          <a:xfrm>
            <a:off x="7020000" y="1700280"/>
            <a:ext cx="1365120" cy="1797120"/>
          </a:xfrm>
          <a:prstGeom prst="rect">
            <a:avLst/>
          </a:prstGeom>
          <a:ln w="12600">
            <a:noFill/>
          </a:ln>
        </p:spPr>
      </p:pic>
      <p:pic>
        <p:nvPicPr>
          <p:cNvPr id="239" name="图片 6" descr=""/>
          <p:cNvPicPr/>
          <p:nvPr/>
        </p:nvPicPr>
        <p:blipFill>
          <a:blip r:embed="rId5"/>
          <a:stretch/>
        </p:blipFill>
        <p:spPr>
          <a:xfrm>
            <a:off x="539640" y="1262160"/>
            <a:ext cx="1833480" cy="1796760"/>
          </a:xfrm>
          <a:prstGeom prst="rect">
            <a:avLst/>
          </a:prstGeom>
          <a:ln w="12600">
            <a:noFill/>
          </a:ln>
        </p:spPr>
      </p:pic>
      <p:pic>
        <p:nvPicPr>
          <p:cNvPr id="240" name="图片 7" descr=""/>
          <p:cNvPicPr/>
          <p:nvPr/>
        </p:nvPicPr>
        <p:blipFill>
          <a:blip r:embed="rId6"/>
          <a:stretch/>
        </p:blipFill>
        <p:spPr>
          <a:xfrm>
            <a:off x="4859280" y="1700280"/>
            <a:ext cx="1726920" cy="1869840"/>
          </a:xfrm>
          <a:prstGeom prst="rect">
            <a:avLst/>
          </a:prstGeom>
          <a:ln w="12600">
            <a:noFill/>
          </a:ln>
        </p:spPr>
      </p:pic>
      <p:pic>
        <p:nvPicPr>
          <p:cNvPr id="241" name="图片 8" descr=""/>
          <p:cNvPicPr/>
          <p:nvPr/>
        </p:nvPicPr>
        <p:blipFill>
          <a:blip r:embed="rId7"/>
          <a:stretch/>
        </p:blipFill>
        <p:spPr>
          <a:xfrm>
            <a:off x="6659640" y="3529080"/>
            <a:ext cx="1725480" cy="1869840"/>
          </a:xfrm>
          <a:prstGeom prst="rect">
            <a:avLst/>
          </a:prstGeom>
          <a:ln w="12600">
            <a:noFill/>
          </a:ln>
        </p:spPr>
      </p:pic>
      <p:pic>
        <p:nvPicPr>
          <p:cNvPr id="242" name="图片 9" descr=""/>
          <p:cNvPicPr/>
          <p:nvPr/>
        </p:nvPicPr>
        <p:blipFill>
          <a:blip r:embed="rId8"/>
          <a:stretch/>
        </p:blipFill>
        <p:spPr>
          <a:xfrm>
            <a:off x="7020000" y="5241960"/>
            <a:ext cx="1141200" cy="1236240"/>
          </a:xfrm>
          <a:prstGeom prst="rect">
            <a:avLst/>
          </a:prstGeom>
          <a:ln w="126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BC768E82-09A7-4BA5-B07D-D7C570CF52D7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14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45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软件包管理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6" name="CustomShape 4"/>
          <p:cNvSpPr/>
          <p:nvPr/>
        </p:nvSpPr>
        <p:spPr>
          <a:xfrm>
            <a:off x="755280" y="1341360"/>
            <a:ext cx="7983360" cy="48787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红帽子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FC  Centos   yum  rpm (.rpm)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 ubuntu   apt  dpkg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.deb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3 suse  zypper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4 gentoo  emerge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1154515A-C735-47C6-A748-9D44B7FE9136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16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755280" y="259920"/>
            <a:ext cx="8130960" cy="646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下载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源代码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0" name="CustomShape 4"/>
          <p:cNvSpPr/>
          <p:nvPr/>
        </p:nvSpPr>
        <p:spPr>
          <a:xfrm>
            <a:off x="864000" y="1368000"/>
            <a:ext cx="7994520" cy="48898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Font typeface="Times New Roman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内核官方网站：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5E51BDDE-7C03-4328-8E9C-EF1CEE88360D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17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/boot/grub/grub.cfg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保存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/boot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下所有文件保存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menuentry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拍照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521A419F-0994-4EF8-A234-5D622EA91D89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18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57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内核编译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8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 sudo apt-get install  libncurses5-dev   openssl libssl-dev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build-essential openssl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pkg-config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libc6-dev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bison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flex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libelf-dev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zlibc minizip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sudo apt-get install libidn11-dev libidn11</a:t>
            </a:r>
            <a:endParaRPr b="0" lang="en-US" sz="24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E0A358E6-9651-4D48-A0DC-81C1BAAB1560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19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755280" y="260280"/>
            <a:ext cx="8132400" cy="648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内核编译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770400" y="1483200"/>
            <a:ext cx="7507800" cy="6435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  tar -xavf linux-4.18.14.tar.xz  -C /usr/src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cd  /usr/src/linux-4.18.14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3  make mrproper      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得到源代码后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将其净化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4  cp /boot/config-'uname -r'-generic  ./.config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make menuconfig    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对内核选项进行配置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选择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load→OK→Save→OK→EXIT→EXIT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load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后默认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.config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5  </a:t>
            </a:r>
            <a:r>
              <a:rPr b="0" lang="en-US" sz="2800" spc="-1" strike="noStrike">
                <a:solidFill>
                  <a:srgbClr val="00ff00"/>
                </a:solidFill>
                <a:latin typeface="Times New Roman"/>
                <a:ea typeface="DejaVu Sans"/>
              </a:rPr>
              <a:t>make clean (</a:t>
            </a:r>
            <a:r>
              <a:rPr b="0" lang="zh-CN" sz="2800" spc="-1" strike="noStrike">
                <a:solidFill>
                  <a:srgbClr val="00ff00"/>
                </a:solidFill>
                <a:latin typeface="Times New Roman"/>
                <a:ea typeface="DejaVu Sans"/>
              </a:rPr>
              <a:t>不需要</a:t>
            </a:r>
            <a:r>
              <a:rPr b="0" lang="en-US" sz="2800" spc="-1" strike="noStrike">
                <a:solidFill>
                  <a:srgbClr val="00ff00"/>
                </a:solidFill>
                <a:latin typeface="Times New Roman"/>
                <a:ea typeface="DejaVu Sans"/>
              </a:rPr>
              <a:t>)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删除配置时留下的一些不用的文件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8CB516DE-E70F-4965-BA4E-066BF447A780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20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864000" y="1112400"/>
            <a:ext cx="7995960" cy="5767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6 make bzImage   -j4    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编译内核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内核较小时可以用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make zImage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15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分钟）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7 make modules -j4       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编译模块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小时）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8 make modules_install 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安装模块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make INSTALL_MOD_STRIP=1 modules_install</a:t>
            </a:r>
            <a:r>
              <a:rPr b="0" lang="zh-CN" sz="26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6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此时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/lib/modules/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下应该新生成一个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KERNEL_VERSION (4.18.14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）文件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9  mkinitramfs /lib/modules/4.18.14 -o /boot/initrd.img-4.18.14-generic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AF9ED512-FAA8-4956-8653-338E15E76DD7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21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68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CustomShape 4"/>
          <p:cNvSpPr/>
          <p:nvPr/>
        </p:nvSpPr>
        <p:spPr>
          <a:xfrm>
            <a:off x="360000" y="1440000"/>
            <a:ext cx="8559360" cy="4966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6000"/>
          </a:bodyPr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10 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到此为止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构建内核完毕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把内核映象和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System.map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拷贝到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/boot/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下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#cp /usr/src/linux-4.18.14/arch/x86/boot/bzImage    /boot/vmlinuz-4.18.14-generic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#cp  /usr/src/linux-4.18.14/System.map    /boot/System.map-4.18.14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#ln -s /boot/System.map-4.18.14       /boot/System.map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make install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11  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修改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grub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配置文件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/boot/grub/grub.cfg     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chmod 777 grub.cfg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update-grub2  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重启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,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启动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grub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时就可看到自己新的内核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uname -r</a:t>
            </a:r>
            <a:endParaRPr b="0" lang="en-US" sz="2200" spc="-1" strike="noStrike">
              <a:latin typeface="Arial"/>
            </a:endParaRPr>
          </a:p>
          <a:p>
            <a:pPr marL="343080" indent="-33912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(make-kpkg)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3E7F638D-5290-4FD4-B4A9-2CCD1D3EB269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22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755640" y="259920"/>
            <a:ext cx="8135640" cy="651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grub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73" name="CustomShape 4"/>
          <p:cNvSpPr/>
          <p:nvPr/>
        </p:nvSpPr>
        <p:spPr>
          <a:xfrm>
            <a:off x="864000" y="790920"/>
            <a:ext cx="7999200" cy="94939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216000" indent="-215640">
              <a:lnSpc>
                <a:spcPct val="100000"/>
              </a:lnSpc>
              <a:spcBef>
                <a:spcPts val="694"/>
              </a:spcBef>
              <a:buClr>
                <a:srgbClr val="333399"/>
              </a:buClr>
              <a:buFont typeface="Wingdings" charset="2"/>
              <a:buChar char="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1. vi /boot/grub/grub.cfg  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（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 default="6"</a:t>
            </a: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menuentry "Ubuntu, Linux 2.6.33-generic" {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recordfail=1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if [ -n ${have_grubenv} ]; then save_env recordfail; fi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 quiet=1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insmod ext2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set root=(hd0,8)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search --no-floppy --fs-uuid --set eb032c79-aae7-4914-b2de-53bbabec6d8b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26880" indent="-32616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4DD26E14-0514-412A-9CB5-718B6027BEF9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23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CustomShape 4"/>
          <p:cNvSpPr/>
          <p:nvPr/>
        </p:nvSpPr>
        <p:spPr>
          <a:xfrm>
            <a:off x="755280" y="1341360"/>
            <a:ext cx="7983360" cy="39754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0000"/>
          </a:bodyPr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    /boot/vmlinuz-2.6.33-generic root=UUID=eb032c79-aae7-4914-b2de-53bbabec6d8b ro   quiet splash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initrd    /boot/initrd.img-2.6.33-generic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}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2. /etc/default/grub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 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修改启动顺序，注意修改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. /etc/default/grub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中的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GRUB_DEFAULT=6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chmod 777  grub.cfg     .</a:t>
            </a:r>
            <a:r>
              <a:rPr b="0" lang="zh-CN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把只读文件的属性改成可读可写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326880" indent="-3261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DCAE2E99-4C85-4135-9377-AC0E1BA3106C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24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80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zh-CN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特别注意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1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89000"/>
          </a:bodyPr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1 su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切换到超级用户下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2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准备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源码和补丁，可以在官网（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http://www.kernel.org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）上下载，这里我们下载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4.5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版本。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 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不过阿里提供了</a:t>
            </a: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http://mirrors.aliyun.com/</a:t>
            </a:r>
            <a:r>
              <a:rPr b="0" lang="zh-CN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，也可以在这里面下载，速度更快。下载镜像的命令如下：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cd /tmp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wget http://mirrors.aliyun.com/linux-kernel/v4.x/linux-4.5.tar.xz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wget http://mirrors.aliyun.com/linux-kernel/v4.x/patch-4.5.xz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3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D01588C1-4590-4394-B3B7-8DD6BB7B043C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25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84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0000"/>
          </a:bodyPr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解压缩内核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把压缩包解压：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xz -d linux-4.5.tar.xz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解压后得到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linux-4.5.tar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运行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tar –xvf linux-4.5.tar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解压得到目录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linux-4.5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把内核目录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linux-4.5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和补丁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patch-4.5.xz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都复制到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/usr/src</a:t>
            </a:r>
            <a:r>
              <a:rPr b="0" lang="zh-CN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，然后进入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/usr/src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cp  linux-4.5  /usr/src  –rf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cp  patch-4.5.xz  /usr/src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cd /usr/src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343080" indent="-342360">
              <a:lnSpc>
                <a:spcPct val="8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5684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Spring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3995280" y="6244920"/>
            <a:ext cx="21160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buNone/>
            </a:pPr>
            <a:fld id="{4031EC7E-0AB1-4FE3-9DA7-82092CF0BD9C}" type="slidenum">
              <a:rPr b="0" lang="en-US" sz="1800" spc="-1" strike="noStrike">
                <a:solidFill>
                  <a:srgbClr val="800080"/>
                </a:solidFill>
                <a:latin typeface="Arial"/>
                <a:ea typeface="宋体"/>
              </a:rPr>
              <a:t>26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755640" y="261360"/>
            <a:ext cx="8119800" cy="6318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9" name="CustomShape 4"/>
          <p:cNvSpPr/>
          <p:nvPr/>
        </p:nvSpPr>
        <p:spPr>
          <a:xfrm>
            <a:off x="755280" y="1341360"/>
            <a:ext cx="7983360" cy="397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打内核补丁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xz -d patch-4.5.xz | patch -p1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执行后没有任何提示说明执行正确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694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457200" y="273600"/>
            <a:ext cx="82274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4800" spc="-1" strike="noStrike">
                <a:solidFill>
                  <a:srgbClr val="000000"/>
                </a:solidFill>
                <a:latin typeface="Arial"/>
                <a:ea typeface="DejaVu Sans"/>
              </a:rPr>
              <a:t>假设操作系统是外包公司老板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初创期：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这个老板基于开放的营商环境（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x86 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体系结构），创办一家外包公司（系统的启动）。因为一开始没有其他员工，老板需要亲自接项目（实模式）。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发展期：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公司慢慢做大，项目越接越多（保护模式、多进程），为了管理各个外包项目，建立了项目管理体系（进程管理）、会议室管理体系（内存管理）、文档资料管理系统（文件系统）、售前售后体系（输入输出设备管理）。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壮大期：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公司越来越牛，开始促进内部项目的合作（进程间通信）和外部公司合作（网络通信）。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集团化：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公司的业务越来越多，会成立多家子公司（虚拟化），或者鼓励内部创业（容器化），这个时候公司就变成了集团。大管家的调度能力不再局限于一家公司，而是集团公司（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Linux </a:t>
            </a:r>
            <a:r>
              <a:rPr b="0" lang="zh-CN" sz="1800" spc="-1" strike="noStrike">
                <a:solidFill>
                  <a:srgbClr val="ff0000"/>
                </a:solidFill>
                <a:latin typeface="Arial"/>
                <a:ea typeface="DejaVu Sans"/>
              </a:rPr>
              <a:t>集群），从而成功上市（从单机操作系统到数据中心操作系统）。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57200" y="273600"/>
            <a:ext cx="82274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CustomShape 2"/>
          <p:cNvSpPr/>
          <p:nvPr/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2008-06-25T01:44:00Z</dcterms:created>
  <dc:creator>Administrator</dc:creator>
  <dc:description/>
  <dc:language>zh-CN</dc:language>
  <cp:lastModifiedBy/>
  <dcterms:modified xsi:type="dcterms:W3CDTF">2025-02-17T17:00:36Z</dcterms:modified>
  <cp:revision>211</cp:revision>
  <dc:subject/>
  <dc:title>Linux操作系统分析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KSOProductBuildVer">
    <vt:lpwstr>2052-11.1.0.10314</vt:lpwstr>
  </property>
  <property fmtid="{D5CDD505-2E9C-101B-9397-08002B2CF9AE}" pid="5" name="LinksUpToDate">
    <vt:bool>0</vt:bool>
  </property>
  <property fmtid="{D5CDD505-2E9C-101B-9397-08002B2CF9AE}" pid="6" name="MMClips">
    <vt:r8>0</vt:r8>
  </property>
  <property fmtid="{D5CDD505-2E9C-101B-9397-08002B2CF9AE}" pid="7" name="Notes">
    <vt:r8>0</vt:r8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r8>29</vt:r8>
  </property>
</Properties>
</file>